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562AA-CC6A-46E7-9286-8C0DE686DDD8}" v="45" dt="2026-10-26T13:14:39.1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06601602708562E-2"/>
          <c:y val="0.11240958296681765"/>
          <c:w val="0.57230907617299065"/>
          <c:h val="0.7569996184161504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03D-4FCB-A214-0779927D994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F47-4D54-AFC0-4F0E05D7EFE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F47-4D54-AFC0-4F0E05D7EFE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0F47-4D54-AFC0-4F0E05D7EFE4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Phí đối tác &amp; ngân hàng</c:v>
                </c:pt>
                <c:pt idx="1">
                  <c:v>Chi phí vận hành</c:v>
                </c:pt>
                <c:pt idx="2">
                  <c:v>Chi phí marketing</c:v>
                </c:pt>
                <c:pt idx="3">
                  <c:v>khác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0.46</c:v>
                </c:pt>
                <c:pt idx="1">
                  <c:v>0.28000000000000003</c:v>
                </c:pt>
                <c:pt idx="2">
                  <c:v>0.16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3D-4FCB-A214-0779927D994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BDCFC-03AF-2709-B591-3CA0C281F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F5AE48-7BDC-5C3A-8319-EBBCB05EA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204A2-ABB3-4EB7-BA28-33AB75ECC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2035D-37A3-DB38-37AA-08337885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388EB-A155-2515-BBDE-C9B18150C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94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7185F-6A22-B4A9-8745-C6D3AA68F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8624A-A230-7F8D-6333-54679849D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21323-80EB-20EB-45D9-F7F92BDA7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14119-6520-E447-238D-4825A42B4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16F4F-0E2E-EB94-68DE-47F58F72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2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B4753-6D4F-979A-168C-9BA03DD3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CE5872-2BEB-EC17-05B8-360B19179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E658F-D07C-8FE7-C441-CACD9D02C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EA5D3-2CC2-3A2C-0F4E-71C4A406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10DD5-3B42-1CA8-BABC-50386673F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15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1AED0-8081-E258-44C7-68D0745F2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CC792-5639-8127-40FE-A50059D30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2F5865-AB93-8A0F-5249-865D81666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1AF6C-1892-52D2-448E-40F6B0025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CCD7E-8695-8663-D6BD-32DC26241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03472-5A5D-5B1A-4E83-60B4B4F4E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8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3113-7C41-979E-82A8-238BA3FFD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9682D-114F-DEF9-EC61-EB6F46C35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2D00A-7CA3-8A29-7094-84B9386AE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E9935-80CD-21A8-8D91-2456811FD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F285B6-6E90-8733-1EFD-CE37B39D3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FE501C-2881-C561-E7CA-0FEFAAE41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AF7604-7F64-454D-24A7-46BEA6FF5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0120AA-FA2C-7D28-2DF0-8C267C4B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7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92E75-300D-E3AC-C1A6-3BDC98C52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CD2CFA-CB77-D58C-BA4D-97E4A9950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929FF-326D-740B-9742-42588EAF8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C3094-D145-AD44-CDE3-115010EF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07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AE53D-E032-57AD-D36D-4D0546EF5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493ED2-0CA5-89F1-B4EB-E268CA58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CF359-0867-F338-1C75-3898176E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38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CA7A-DB3F-3008-F7D6-F5CF875F0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85597-527B-E59E-EA2D-7728B19F0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0684C-9305-96D3-0C0F-5D43B68D3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6C427-9C99-F6C6-6135-E8B166559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99D84-AA1A-2C4B-A8BB-9BD08B8B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8131C-7A8C-02CE-F013-DA16E9EC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00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1995A-EE42-B094-F10B-7D142E17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B93EDC-415C-14F8-F6A7-F257C7C584D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81875F-DE58-AAFB-8F25-0AA3484EF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44D35-3A88-C3D9-88C9-2FF5CDA7E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CDC3A-A929-80C7-BC4F-F857B3294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E1B03-7339-917B-F538-73239AB04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2D79-AF4A-0F30-6E9F-13E83B4EA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C92A9C-9675-5011-65DF-B5A3965CF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2F7D9-3527-F0AC-2DCD-8EFE267D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7668C-1E04-62C7-3BA0-009E58B3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186127-DDE5-C737-E4F4-37B38CC53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1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AD4B74-7017-9B0E-7865-99BEA8F438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ADEB9-02E5-D141-7009-91D110702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E9689-5017-A27D-957D-85377418C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61B38-3D8B-B085-B588-5E5781F3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60912-2B7E-5BD8-A238-DC937AC2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04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80A174-79A6-BEA6-CF13-600EFA2F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8C481-E5A9-4F5B-5A9B-4B17546FD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91E62-076E-003B-8544-DDEC17739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F5A7F5-D47C-418B-807C-5876C01D5A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4D668-5984-2ED9-9A5B-C9333EBDC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25063-B236-AE31-108F-7E6C42306D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E662A-0585-4A5F-9DE4-976FD7F95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4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2E326D7-AA19-3D12-688F-701EF07C0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3794" y="2533793"/>
            <a:ext cx="4208206" cy="43242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08EE82-667A-A116-3D43-E2CA5C5548DC}"/>
              </a:ext>
            </a:extLst>
          </p:cNvPr>
          <p:cNvSpPr txBox="1"/>
          <p:nvPr/>
        </p:nvSpPr>
        <p:spPr>
          <a:xfrm>
            <a:off x="889818" y="2413337"/>
            <a:ext cx="64204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dirty="0">
                <a:solidFill>
                  <a:schemeClr val="accent1">
                    <a:lumMod val="75000"/>
                  </a:schemeClr>
                </a:solidFill>
              </a:rPr>
              <a:t>BÁO CÁO LỖ LÃI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18875-9873-2BB9-8A1E-176780750495}"/>
              </a:ext>
            </a:extLst>
          </p:cNvPr>
          <p:cNvSpPr txBox="1"/>
          <p:nvPr/>
        </p:nvSpPr>
        <p:spPr>
          <a:xfrm>
            <a:off x="889818" y="3546451"/>
            <a:ext cx="50439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THÁNG 05/2024</a:t>
            </a:r>
          </a:p>
          <a:p>
            <a:r>
              <a:rPr lang="vi-VN" sz="4800" dirty="0">
                <a:solidFill>
                  <a:schemeClr val="accent5">
                    <a:lumMod val="50000"/>
                  </a:schemeClr>
                </a:solidFill>
              </a:rPr>
              <a:t>_____</a:t>
            </a:r>
            <a:endParaRPr lang="en-US" sz="4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5CACCD-CBD8-3EE7-C25D-C1BF5203CB62}"/>
              </a:ext>
            </a:extLst>
          </p:cNvPr>
          <p:cNvSpPr/>
          <p:nvPr/>
        </p:nvSpPr>
        <p:spPr>
          <a:xfrm rot="19613466">
            <a:off x="11632588" y="-1695767"/>
            <a:ext cx="1374601" cy="559968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9696D1-414E-0C15-9EA8-A08D46DCD872}"/>
              </a:ext>
            </a:extLst>
          </p:cNvPr>
          <p:cNvSpPr/>
          <p:nvPr/>
        </p:nvSpPr>
        <p:spPr>
          <a:xfrm rot="19335484">
            <a:off x="11604663" y="-1093184"/>
            <a:ext cx="905289" cy="559968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698E8D-2667-2812-58CB-80165955A3AB}"/>
              </a:ext>
            </a:extLst>
          </p:cNvPr>
          <p:cNvSpPr/>
          <p:nvPr/>
        </p:nvSpPr>
        <p:spPr>
          <a:xfrm rot="19268831">
            <a:off x="11234017" y="-792048"/>
            <a:ext cx="905289" cy="55996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009A45EB-F296-1B06-A815-C555C65EB8CE}"/>
              </a:ext>
            </a:extLst>
          </p:cNvPr>
          <p:cNvSpPr/>
          <p:nvPr/>
        </p:nvSpPr>
        <p:spPr>
          <a:xfrm>
            <a:off x="-140113" y="5568395"/>
            <a:ext cx="1376516" cy="1289605"/>
          </a:xfrm>
          <a:prstGeom prst="flowChartConnector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898E07A4-613E-198C-9A7D-F8E747453F4D}"/>
              </a:ext>
            </a:extLst>
          </p:cNvPr>
          <p:cNvSpPr/>
          <p:nvPr/>
        </p:nvSpPr>
        <p:spPr>
          <a:xfrm>
            <a:off x="-280220" y="5760913"/>
            <a:ext cx="1376516" cy="1289605"/>
          </a:xfrm>
          <a:prstGeom prst="flowChartConnector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2FA4EF96-C9DA-AD53-ED54-4850B9984F6A}"/>
              </a:ext>
            </a:extLst>
          </p:cNvPr>
          <p:cNvSpPr/>
          <p:nvPr/>
        </p:nvSpPr>
        <p:spPr>
          <a:xfrm>
            <a:off x="-486698" y="5953431"/>
            <a:ext cx="1376516" cy="1289605"/>
          </a:xfrm>
          <a:prstGeom prst="flowChartConnector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197E9BB-3985-2251-426E-FA26E498202B}"/>
              </a:ext>
            </a:extLst>
          </p:cNvPr>
          <p:cNvSpPr/>
          <p:nvPr/>
        </p:nvSpPr>
        <p:spPr>
          <a:xfrm>
            <a:off x="548145" y="301136"/>
            <a:ext cx="2920181" cy="1450412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A6A4C2-63E1-BE09-4AB8-B3B7348D544F}"/>
              </a:ext>
            </a:extLst>
          </p:cNvPr>
          <p:cNvSpPr txBox="1"/>
          <p:nvPr/>
        </p:nvSpPr>
        <p:spPr>
          <a:xfrm>
            <a:off x="575185" y="642412"/>
            <a:ext cx="35248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PAYKX</a:t>
            </a:r>
          </a:p>
          <a:p>
            <a:r>
              <a:rPr lang="vi-VN" dirty="0"/>
              <a:t>Ví điện tử cho sinh viên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1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6861DB0-0DAA-4B67-1C46-428CE7D12104}"/>
              </a:ext>
            </a:extLst>
          </p:cNvPr>
          <p:cNvGrpSpPr/>
          <p:nvPr/>
        </p:nvGrpSpPr>
        <p:grpSpPr>
          <a:xfrm>
            <a:off x="554589" y="1425677"/>
            <a:ext cx="2281087" cy="4345858"/>
            <a:chOff x="537085" y="1425677"/>
            <a:chExt cx="2281087" cy="434585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E658CE4-3066-A77D-3B8F-B709CC62D332}"/>
                </a:ext>
              </a:extLst>
            </p:cNvPr>
            <p:cNvSpPr/>
            <p:nvPr/>
          </p:nvSpPr>
          <p:spPr>
            <a:xfrm>
              <a:off x="537085" y="1425677"/>
              <a:ext cx="2255275" cy="43458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F1AB8F3-6C83-3362-6F5D-C50BB7CB3504}"/>
                </a:ext>
              </a:extLst>
            </p:cNvPr>
            <p:cNvSpPr txBox="1"/>
            <p:nvPr/>
          </p:nvSpPr>
          <p:spPr>
            <a:xfrm>
              <a:off x="562897" y="2236613"/>
              <a:ext cx="22552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>
                  <a:latin typeface="Cascadia Code SemiBold" panose="020B0609020000020004" pitchFamily="49" charset="0"/>
                  <a:ea typeface="Cascadia Code SemiBold" panose="020B0609020000020004" pitchFamily="49" charset="0"/>
                  <a:cs typeface="Cascadia Code SemiBold" panose="020B0609020000020004" pitchFamily="49" charset="0"/>
                </a:rPr>
                <a:t>DOANH THU THUẦN</a:t>
              </a:r>
              <a:endParaRPr lang="en-US"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F2924CD-4B22-1609-52F0-D060D7143881}"/>
                </a:ext>
              </a:extLst>
            </p:cNvPr>
            <p:cNvSpPr txBox="1"/>
            <p:nvPr/>
          </p:nvSpPr>
          <p:spPr>
            <a:xfrm>
              <a:off x="647697" y="2755161"/>
              <a:ext cx="217047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40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j-lt"/>
                </a:rPr>
                <a:t>12,45</a:t>
              </a:r>
            </a:p>
            <a:p>
              <a:r>
                <a:rPr lang="vi-VN" sz="40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+mj-lt"/>
                </a:rPr>
                <a:t>Tỷ VND</a:t>
              </a:r>
              <a:endPara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oper Black" panose="0208090404030B0204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B6569A-B362-1292-2222-3AE61BB49087}"/>
                </a:ext>
              </a:extLst>
            </p:cNvPr>
            <p:cNvSpPr txBox="1"/>
            <p:nvPr/>
          </p:nvSpPr>
          <p:spPr>
            <a:xfrm>
              <a:off x="916549" y="4395470"/>
              <a:ext cx="16659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    +18,6% so với T4/2024</a:t>
              </a:r>
              <a:endParaRPr lang="en-US" b="1" dirty="0"/>
            </a:p>
          </p:txBody>
        </p:sp>
        <p:sp>
          <p:nvSpPr>
            <p:cNvPr id="10" name="Flowchart: Extract 9">
              <a:extLst>
                <a:ext uri="{FF2B5EF4-FFF2-40B4-BE49-F238E27FC236}">
                  <a16:creationId xmlns:a16="http://schemas.microsoft.com/office/drawing/2014/main" id="{4C8935FF-7BDC-3098-E700-75E7E8301F44}"/>
                </a:ext>
              </a:extLst>
            </p:cNvPr>
            <p:cNvSpPr/>
            <p:nvPr/>
          </p:nvSpPr>
          <p:spPr>
            <a:xfrm>
              <a:off x="916549" y="4457909"/>
              <a:ext cx="250105" cy="231680"/>
            </a:xfrm>
            <a:prstGeom prst="flowChartExtra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FD7B058-DFCA-EB53-F0DB-AC934B56E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66654" y="1513550"/>
              <a:ext cx="898120" cy="738452"/>
            </a:xfrm>
            <a:prstGeom prst="rect">
              <a:avLst/>
            </a:prstGeom>
          </p:spPr>
        </p:pic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21AA08-0DC5-3869-5076-57B46EDB32B5}"/>
              </a:ext>
            </a:extLst>
          </p:cNvPr>
          <p:cNvSpPr/>
          <p:nvPr/>
        </p:nvSpPr>
        <p:spPr>
          <a:xfrm>
            <a:off x="3470869" y="1425677"/>
            <a:ext cx="2245443" cy="4345858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9D0A29-5CA8-F40E-6424-13544C41F9C2}"/>
              </a:ext>
            </a:extLst>
          </p:cNvPr>
          <p:cNvSpPr txBox="1"/>
          <p:nvPr/>
        </p:nvSpPr>
        <p:spPr>
          <a:xfrm>
            <a:off x="3588243" y="2236613"/>
            <a:ext cx="2598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000" b="1" dirty="0">
                <a:solidFill>
                  <a:schemeClr val="accent6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TỔNG CHI PHÍ</a:t>
            </a:r>
            <a:endParaRPr lang="en-US" sz="2000" b="1" dirty="0">
              <a:solidFill>
                <a:schemeClr val="accent6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EF1FEA-9696-964D-5CFB-4EAE80F11B33}"/>
              </a:ext>
            </a:extLst>
          </p:cNvPr>
          <p:cNvSpPr txBox="1"/>
          <p:nvPr/>
        </p:nvSpPr>
        <p:spPr>
          <a:xfrm>
            <a:off x="3635560" y="2808652"/>
            <a:ext cx="232041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chemeClr val="accent6"/>
                </a:solidFill>
                <a:latin typeface="+mj-lt"/>
              </a:rPr>
              <a:t>7,28 </a:t>
            </a:r>
          </a:p>
          <a:p>
            <a:r>
              <a:rPr lang="vi-VN" sz="4000" b="1" dirty="0">
                <a:solidFill>
                  <a:schemeClr val="accent6"/>
                </a:solidFill>
                <a:latin typeface="+mj-lt"/>
              </a:rPr>
              <a:t>Tỷ VND</a:t>
            </a:r>
            <a:endParaRPr lang="en-US" sz="4000" b="1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3172A9-85A2-4C3E-E74C-1C0493EAE007}"/>
              </a:ext>
            </a:extLst>
          </p:cNvPr>
          <p:cNvSpPr txBox="1"/>
          <p:nvPr/>
        </p:nvSpPr>
        <p:spPr>
          <a:xfrm>
            <a:off x="3635560" y="4457909"/>
            <a:ext cx="1946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     </a:t>
            </a:r>
            <a:r>
              <a:rPr lang="vi-VN" b="1" dirty="0">
                <a:solidFill>
                  <a:schemeClr val="accent6"/>
                </a:solidFill>
              </a:rPr>
              <a:t>+12,1% </a:t>
            </a:r>
            <a:r>
              <a:rPr lang="vi-VN" b="1" dirty="0"/>
              <a:t>so với T4/2024 </a:t>
            </a:r>
            <a:endParaRPr lang="en-US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D0F86B9-9339-B4A1-95DE-943A4D705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100" y="1513550"/>
            <a:ext cx="916919" cy="698604"/>
          </a:xfrm>
          <a:prstGeom prst="rect">
            <a:avLst/>
          </a:prstGeom>
        </p:spPr>
      </p:pic>
      <p:sp>
        <p:nvSpPr>
          <p:cNvPr id="14" name="Flowchart: Extract 13">
            <a:extLst>
              <a:ext uri="{FF2B5EF4-FFF2-40B4-BE49-F238E27FC236}">
                <a16:creationId xmlns:a16="http://schemas.microsoft.com/office/drawing/2014/main" id="{3288C077-965B-0767-19D7-4D093A84405A}"/>
              </a:ext>
            </a:extLst>
          </p:cNvPr>
          <p:cNvSpPr/>
          <p:nvPr/>
        </p:nvSpPr>
        <p:spPr>
          <a:xfrm>
            <a:off x="3739007" y="4534075"/>
            <a:ext cx="250105" cy="231680"/>
          </a:xfrm>
          <a:prstGeom prst="flowChartExtra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CAC4D7A-35B7-1035-3A54-8AB67D8B8AE4}"/>
              </a:ext>
            </a:extLst>
          </p:cNvPr>
          <p:cNvSpPr/>
          <p:nvPr/>
        </p:nvSpPr>
        <p:spPr>
          <a:xfrm>
            <a:off x="6495750" y="1461501"/>
            <a:ext cx="2245443" cy="4345858"/>
          </a:xfrm>
          <a:prstGeom prst="roundRect">
            <a:avLst/>
          </a:prstGeom>
          <a:solidFill>
            <a:schemeClr val="bg1"/>
          </a:solidFill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3F4BDC-13A0-2D52-1CFF-4027DE1B0CE4}"/>
              </a:ext>
            </a:extLst>
          </p:cNvPr>
          <p:cNvSpPr txBox="1"/>
          <p:nvPr/>
        </p:nvSpPr>
        <p:spPr>
          <a:xfrm>
            <a:off x="6613737" y="2303215"/>
            <a:ext cx="2245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solidFill>
                  <a:srgbClr val="7030A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LỢI NHUẬN GỘP</a:t>
            </a:r>
            <a:endParaRPr lang="en-US" b="1" dirty="0">
              <a:solidFill>
                <a:srgbClr val="7030A0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B5EF69-47B1-4FAA-6C6B-4CF8CB43F6D2}"/>
              </a:ext>
            </a:extLst>
          </p:cNvPr>
          <p:cNvSpPr txBox="1"/>
          <p:nvPr/>
        </p:nvSpPr>
        <p:spPr>
          <a:xfrm>
            <a:off x="6634324" y="2803104"/>
            <a:ext cx="25207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7030A0"/>
                </a:solidFill>
                <a:latin typeface="+mj-lt"/>
              </a:rPr>
              <a:t>5,17</a:t>
            </a:r>
          </a:p>
          <a:p>
            <a:r>
              <a:rPr lang="vi-VN" sz="4000" b="1" dirty="0">
                <a:solidFill>
                  <a:srgbClr val="7030A0"/>
                </a:solidFill>
                <a:latin typeface="+mj-lt"/>
              </a:rPr>
              <a:t>Tỷ VND</a:t>
            </a:r>
            <a:endParaRPr lang="en-US" sz="4000" b="1" dirty="0">
              <a:solidFill>
                <a:srgbClr val="7030A0"/>
              </a:solidFill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E4B498-803E-0648-2C5A-56324910FE51}"/>
              </a:ext>
            </a:extLst>
          </p:cNvPr>
          <p:cNvSpPr txBox="1"/>
          <p:nvPr/>
        </p:nvSpPr>
        <p:spPr>
          <a:xfrm>
            <a:off x="6780885" y="4530293"/>
            <a:ext cx="1911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/>
              <a:t>     </a:t>
            </a:r>
            <a:r>
              <a:rPr lang="vi-VN" b="1" dirty="0">
                <a:solidFill>
                  <a:srgbClr val="7030A0"/>
                </a:solidFill>
              </a:rPr>
              <a:t>+27,4% </a:t>
            </a:r>
            <a:r>
              <a:rPr lang="vi-VN" b="1" dirty="0"/>
              <a:t>so với T4/2024</a:t>
            </a:r>
            <a:endParaRPr lang="en-US" b="1" dirty="0"/>
          </a:p>
        </p:txBody>
      </p:sp>
      <p:sp>
        <p:nvSpPr>
          <p:cNvPr id="27" name="Flowchart: Extract 26">
            <a:extLst>
              <a:ext uri="{FF2B5EF4-FFF2-40B4-BE49-F238E27FC236}">
                <a16:creationId xmlns:a16="http://schemas.microsoft.com/office/drawing/2014/main" id="{F09CADDA-78E7-63CD-4D10-AC7CD2FACDD1}"/>
              </a:ext>
            </a:extLst>
          </p:cNvPr>
          <p:cNvSpPr/>
          <p:nvPr/>
        </p:nvSpPr>
        <p:spPr>
          <a:xfrm>
            <a:off x="6912081" y="4586967"/>
            <a:ext cx="250105" cy="231680"/>
          </a:xfrm>
          <a:prstGeom prst="flowChartExtra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7EB1A9F-BAF5-593C-E5D7-8BDB928FD0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541" y="1664178"/>
            <a:ext cx="797859" cy="583800"/>
          </a:xfrm>
          <a:prstGeom prst="rect">
            <a:avLst/>
          </a:prstGeom>
        </p:spPr>
      </p:pic>
      <p:sp>
        <p:nvSpPr>
          <p:cNvPr id="22" name="Flowchart: Extract 21">
            <a:extLst>
              <a:ext uri="{FF2B5EF4-FFF2-40B4-BE49-F238E27FC236}">
                <a16:creationId xmlns:a16="http://schemas.microsoft.com/office/drawing/2014/main" id="{BFD4105A-A0B4-3C59-6FD8-D4ECBC15BEB2}"/>
              </a:ext>
            </a:extLst>
          </p:cNvPr>
          <p:cNvSpPr/>
          <p:nvPr/>
        </p:nvSpPr>
        <p:spPr>
          <a:xfrm>
            <a:off x="6909469" y="4575467"/>
            <a:ext cx="250105" cy="231680"/>
          </a:xfrm>
          <a:prstGeom prst="flowChartExtra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86FECC9-E9D8-03D6-BAB5-707BAA42C9CF}"/>
              </a:ext>
            </a:extLst>
          </p:cNvPr>
          <p:cNvSpPr/>
          <p:nvPr/>
        </p:nvSpPr>
        <p:spPr>
          <a:xfrm rot="19613466">
            <a:off x="11632588" y="-1695767"/>
            <a:ext cx="1374601" cy="5599689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CABF2C2-9546-6C80-22BE-FE1E108961BE}"/>
              </a:ext>
            </a:extLst>
          </p:cNvPr>
          <p:cNvSpPr/>
          <p:nvPr/>
        </p:nvSpPr>
        <p:spPr>
          <a:xfrm rot="19268831">
            <a:off x="11184766" y="-806296"/>
            <a:ext cx="905289" cy="559968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10F88D2-108A-2A2D-85CC-A4D53279EC93}"/>
              </a:ext>
            </a:extLst>
          </p:cNvPr>
          <p:cNvGrpSpPr/>
          <p:nvPr/>
        </p:nvGrpSpPr>
        <p:grpSpPr>
          <a:xfrm>
            <a:off x="9321050" y="1461501"/>
            <a:ext cx="2998838" cy="4345858"/>
            <a:chOff x="9359860" y="1425677"/>
            <a:chExt cx="2998838" cy="4345858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96598C5-1968-EA83-A579-5D196AC2FC79}"/>
                </a:ext>
              </a:extLst>
            </p:cNvPr>
            <p:cNvSpPr/>
            <p:nvPr/>
          </p:nvSpPr>
          <p:spPr>
            <a:xfrm>
              <a:off x="9432372" y="1425677"/>
              <a:ext cx="2245442" cy="43458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903462D-43D3-09AF-F7DA-5FE88DF2B01E}"/>
                </a:ext>
              </a:extLst>
            </p:cNvPr>
            <p:cNvSpPr txBox="1"/>
            <p:nvPr/>
          </p:nvSpPr>
          <p:spPr>
            <a:xfrm>
              <a:off x="9359860" y="2252002"/>
              <a:ext cx="29988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600" b="1" dirty="0">
                  <a:solidFill>
                    <a:schemeClr val="accent2"/>
                  </a:solidFill>
                </a:rPr>
                <a:t>LỢI NHUẬN SAU THUẾ</a:t>
              </a:r>
              <a:endParaRPr lang="en-US" sz="1600" b="1" dirty="0">
                <a:solidFill>
                  <a:schemeClr val="accent2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3221495-2DA1-ECAF-E6BB-E7B71CD904FA}"/>
                </a:ext>
              </a:extLst>
            </p:cNvPr>
            <p:cNvSpPr txBox="1"/>
            <p:nvPr/>
          </p:nvSpPr>
          <p:spPr>
            <a:xfrm>
              <a:off x="9703988" y="2767280"/>
              <a:ext cx="244761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4000" b="1" dirty="0">
                  <a:solidFill>
                    <a:schemeClr val="accent2"/>
                  </a:solidFill>
                </a:rPr>
                <a:t>2,89</a:t>
              </a:r>
            </a:p>
            <a:p>
              <a:r>
                <a:rPr lang="vi-VN" sz="4000" b="1" dirty="0">
                  <a:solidFill>
                    <a:schemeClr val="accent2"/>
                  </a:solidFill>
                </a:rPr>
                <a:t>Tỷ VND</a:t>
              </a:r>
              <a:endParaRPr lang="en-US" sz="4000" b="1" dirty="0">
                <a:solidFill>
                  <a:schemeClr val="accent2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A9E7819-2DCA-71FB-E6FD-63A1A79F11AF}"/>
                </a:ext>
              </a:extLst>
            </p:cNvPr>
            <p:cNvSpPr txBox="1"/>
            <p:nvPr/>
          </p:nvSpPr>
          <p:spPr>
            <a:xfrm>
              <a:off x="9625330" y="4573749"/>
              <a:ext cx="18582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     </a:t>
              </a:r>
              <a:r>
                <a:rPr lang="vi-VN" b="1" dirty="0">
                  <a:solidFill>
                    <a:schemeClr val="accent2"/>
                  </a:solidFill>
                </a:rPr>
                <a:t>+31,2% </a:t>
              </a:r>
              <a:r>
                <a:rPr lang="vi-VN" b="1" dirty="0"/>
                <a:t>so với T4/2024</a:t>
              </a:r>
              <a:endParaRPr lang="en-US" b="1" dirty="0"/>
            </a:p>
          </p:txBody>
        </p: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99F2DB6B-BD38-FF5C-6151-CB98DAD50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0800" y="1461501"/>
              <a:ext cx="1149818" cy="802702"/>
            </a:xfrm>
            <a:prstGeom prst="rect">
              <a:avLst/>
            </a:prstGeom>
          </p:spPr>
        </p:pic>
        <p:sp>
          <p:nvSpPr>
            <p:cNvPr id="33" name="Flowchart: Extract 32">
              <a:extLst>
                <a:ext uri="{FF2B5EF4-FFF2-40B4-BE49-F238E27FC236}">
                  <a16:creationId xmlns:a16="http://schemas.microsoft.com/office/drawing/2014/main" id="{920153B6-EA54-69B1-0638-8E4B075D16BA}"/>
                </a:ext>
              </a:extLst>
            </p:cNvPr>
            <p:cNvSpPr/>
            <p:nvPr/>
          </p:nvSpPr>
          <p:spPr>
            <a:xfrm>
              <a:off x="9736715" y="4612936"/>
              <a:ext cx="250105" cy="231680"/>
            </a:xfrm>
            <a:prstGeom prst="flowChartExtra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31" name="Flowchart: Extract 30">
              <a:extLst>
                <a:ext uri="{FF2B5EF4-FFF2-40B4-BE49-F238E27FC236}">
                  <a16:creationId xmlns:a16="http://schemas.microsoft.com/office/drawing/2014/main" id="{DFEF3F8D-984C-56A3-8707-60FD4E9AEB3D}"/>
                </a:ext>
              </a:extLst>
            </p:cNvPr>
            <p:cNvSpPr/>
            <p:nvPr/>
          </p:nvSpPr>
          <p:spPr>
            <a:xfrm>
              <a:off x="9736715" y="4605643"/>
              <a:ext cx="250105" cy="231680"/>
            </a:xfrm>
            <a:prstGeom prst="flowChartExtra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A850EE12-A864-434E-9927-12ACB31DF459}"/>
              </a:ext>
            </a:extLst>
          </p:cNvPr>
          <p:cNvSpPr/>
          <p:nvPr/>
        </p:nvSpPr>
        <p:spPr>
          <a:xfrm rot="19335484">
            <a:off x="11604663" y="-1093184"/>
            <a:ext cx="905289" cy="559968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lowchart: Terminator 42">
            <a:extLst>
              <a:ext uri="{FF2B5EF4-FFF2-40B4-BE49-F238E27FC236}">
                <a16:creationId xmlns:a16="http://schemas.microsoft.com/office/drawing/2014/main" id="{9AACCBA7-FF62-7707-41E9-F40FABFFCECD}"/>
              </a:ext>
            </a:extLst>
          </p:cNvPr>
          <p:cNvSpPr/>
          <p:nvPr/>
        </p:nvSpPr>
        <p:spPr>
          <a:xfrm>
            <a:off x="-138606" y="-36550"/>
            <a:ext cx="3609475" cy="856461"/>
          </a:xfrm>
          <a:prstGeom prst="flowChartTerminator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81F30-23C2-B088-05C8-A5BF6D36E154}"/>
              </a:ext>
            </a:extLst>
          </p:cNvPr>
          <p:cNvSpPr txBox="1"/>
          <p:nvPr/>
        </p:nvSpPr>
        <p:spPr>
          <a:xfrm>
            <a:off x="53930" y="160847"/>
            <a:ext cx="382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TỔNG QUAN KẾT QUẢ</a:t>
            </a:r>
            <a:endParaRPr lang="en-US" sz="2400" b="1" dirty="0">
              <a:solidFill>
                <a:schemeClr val="tx2">
                  <a:lumMod val="75000"/>
                  <a:lumOff val="25000"/>
                </a:schemeClr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723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8C634B-ABEB-76B5-8B4E-11E1EC3E0C22}"/>
              </a:ext>
            </a:extLst>
          </p:cNvPr>
          <p:cNvSpPr txBox="1"/>
          <p:nvPr/>
        </p:nvSpPr>
        <p:spPr>
          <a:xfrm>
            <a:off x="334297" y="294968"/>
            <a:ext cx="4767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DOANH THU THUẦN </a:t>
            </a:r>
            <a:r>
              <a:rPr lang="vi-VN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(Tỷ VND)</a:t>
            </a:r>
            <a:endParaRPr lang="en-US" sz="2400" b="1" dirty="0">
              <a:solidFill>
                <a:schemeClr val="tx2">
                  <a:lumMod val="75000"/>
                  <a:lumOff val="25000"/>
                </a:schemeClr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ADFBDB3-1B4E-4821-9C2E-D25BD88EFA34}"/>
              </a:ext>
            </a:extLst>
          </p:cNvPr>
          <p:cNvGrpSpPr/>
          <p:nvPr/>
        </p:nvGrpSpPr>
        <p:grpSpPr>
          <a:xfrm>
            <a:off x="521562" y="963002"/>
            <a:ext cx="3677460" cy="4379020"/>
            <a:chOff x="329056" y="987064"/>
            <a:chExt cx="3870585" cy="524011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6A563F9-E26E-718D-CEDF-D791D27BB9AA}"/>
                </a:ext>
              </a:extLst>
            </p:cNvPr>
            <p:cNvCxnSpPr>
              <a:cxnSpLocks/>
            </p:cNvCxnSpPr>
            <p:nvPr/>
          </p:nvCxnSpPr>
          <p:spPr>
            <a:xfrm>
              <a:off x="819570" y="1042220"/>
              <a:ext cx="0" cy="469981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2A6610B-3CE6-CD1A-B7DF-B758B82ECF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6077" y="5742026"/>
              <a:ext cx="3238565" cy="1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DB6E634-D48F-84F4-D961-045F0CEFD198}"/>
                </a:ext>
              </a:extLst>
            </p:cNvPr>
            <p:cNvSpPr/>
            <p:nvPr/>
          </p:nvSpPr>
          <p:spPr>
            <a:xfrm>
              <a:off x="1082846" y="3765886"/>
              <a:ext cx="300773" cy="1976141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85AC7E6-7F40-3BDB-BA8C-6160809B2467}"/>
                </a:ext>
              </a:extLst>
            </p:cNvPr>
            <p:cNvSpPr/>
            <p:nvPr/>
          </p:nvSpPr>
          <p:spPr>
            <a:xfrm>
              <a:off x="1646894" y="3429001"/>
              <a:ext cx="386435" cy="2313026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1043D55-4AB5-D970-90B0-62F394BFA431}"/>
                </a:ext>
              </a:extLst>
            </p:cNvPr>
            <p:cNvSpPr/>
            <p:nvPr/>
          </p:nvSpPr>
          <p:spPr>
            <a:xfrm>
              <a:off x="2246545" y="3164305"/>
              <a:ext cx="386421" cy="2577721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A59820-D693-4706-5548-4F6EB881654B}"/>
                </a:ext>
              </a:extLst>
            </p:cNvPr>
            <p:cNvSpPr/>
            <p:nvPr/>
          </p:nvSpPr>
          <p:spPr>
            <a:xfrm>
              <a:off x="2860652" y="2815389"/>
              <a:ext cx="386419" cy="2926637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725B79F-9FC1-FA9D-AB84-A0FD2F93C62B}"/>
                </a:ext>
              </a:extLst>
            </p:cNvPr>
            <p:cNvSpPr/>
            <p:nvPr/>
          </p:nvSpPr>
          <p:spPr>
            <a:xfrm>
              <a:off x="3445317" y="2249907"/>
              <a:ext cx="386399" cy="349212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8DC1752-9B5E-D559-4C06-651AB4B9D2DA}"/>
                </a:ext>
              </a:extLst>
            </p:cNvPr>
            <p:cNvSpPr txBox="1"/>
            <p:nvPr/>
          </p:nvSpPr>
          <p:spPr>
            <a:xfrm>
              <a:off x="329056" y="987064"/>
              <a:ext cx="488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16</a:t>
              </a:r>
              <a:endParaRPr lang="en-US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E3A677D-E28D-F91D-E469-5F1BF48986FE}"/>
                </a:ext>
              </a:extLst>
            </p:cNvPr>
            <p:cNvSpPr txBox="1"/>
            <p:nvPr/>
          </p:nvSpPr>
          <p:spPr>
            <a:xfrm>
              <a:off x="329056" y="2401482"/>
              <a:ext cx="488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12</a:t>
              </a:r>
              <a:endParaRPr lang="en-US" b="1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F427AA-AC5C-5260-901D-904E5D45314F}"/>
                </a:ext>
              </a:extLst>
            </p:cNvPr>
            <p:cNvSpPr txBox="1"/>
            <p:nvPr/>
          </p:nvSpPr>
          <p:spPr>
            <a:xfrm>
              <a:off x="376071" y="3535356"/>
              <a:ext cx="488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8</a:t>
              </a:r>
              <a:endParaRPr lang="en-US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C14D3A-4823-1CA5-49FE-4FC083DB3470}"/>
                </a:ext>
              </a:extLst>
            </p:cNvPr>
            <p:cNvSpPr txBox="1"/>
            <p:nvPr/>
          </p:nvSpPr>
          <p:spPr>
            <a:xfrm>
              <a:off x="395833" y="4480582"/>
              <a:ext cx="488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4</a:t>
              </a:r>
              <a:endParaRPr lang="en-US" b="1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5E3179A-C042-F0F5-DA0D-787A311D0C2F}"/>
                </a:ext>
              </a:extLst>
            </p:cNvPr>
            <p:cNvSpPr txBox="1"/>
            <p:nvPr/>
          </p:nvSpPr>
          <p:spPr>
            <a:xfrm>
              <a:off x="378917" y="5448907"/>
              <a:ext cx="488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/>
                <a:t>0</a:t>
              </a:r>
              <a:endParaRPr lang="en-US" b="1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194211-344E-8376-E579-79590A3409B3}"/>
                </a:ext>
              </a:extLst>
            </p:cNvPr>
            <p:cNvSpPr txBox="1"/>
            <p:nvPr/>
          </p:nvSpPr>
          <p:spPr>
            <a:xfrm>
              <a:off x="928244" y="3327591"/>
              <a:ext cx="763917" cy="4419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/>
                <a:t>7,28</a:t>
              </a:r>
              <a:endParaRPr lang="en-US" b="1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1DF0816-916C-FFD9-B581-CF4F7BA4C582}"/>
                </a:ext>
              </a:extLst>
            </p:cNvPr>
            <p:cNvSpPr txBox="1"/>
            <p:nvPr/>
          </p:nvSpPr>
          <p:spPr>
            <a:xfrm>
              <a:off x="1556900" y="3018497"/>
              <a:ext cx="6679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8,01</a:t>
              </a:r>
              <a:endParaRPr lang="en-US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D4965ED-CD86-0D5E-A80B-1B77FEDA93EA}"/>
                </a:ext>
              </a:extLst>
            </p:cNvPr>
            <p:cNvSpPr txBox="1"/>
            <p:nvPr/>
          </p:nvSpPr>
          <p:spPr>
            <a:xfrm>
              <a:off x="2138231" y="2735054"/>
              <a:ext cx="6679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9,36</a:t>
              </a:r>
              <a:endParaRPr lang="en-US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0C7CC6B-9819-DEE0-9401-A6E11F35513F}"/>
                </a:ext>
              </a:extLst>
            </p:cNvPr>
            <p:cNvSpPr txBox="1"/>
            <p:nvPr/>
          </p:nvSpPr>
          <p:spPr>
            <a:xfrm>
              <a:off x="2676697" y="2365722"/>
              <a:ext cx="865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10,50</a:t>
              </a:r>
              <a:endParaRPr lang="en-US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7DEBD18-AB14-D4CF-B9A2-67E83F44E68D}"/>
                </a:ext>
              </a:extLst>
            </p:cNvPr>
            <p:cNvSpPr txBox="1"/>
            <p:nvPr/>
          </p:nvSpPr>
          <p:spPr>
            <a:xfrm>
              <a:off x="3307229" y="1729636"/>
              <a:ext cx="8650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/>
                <a:t>12,45</a:t>
              </a:r>
              <a:endParaRPr lang="en-US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FB89788-409D-77C8-61A0-25C4830E6EDA}"/>
                </a:ext>
              </a:extLst>
            </p:cNvPr>
            <p:cNvSpPr txBox="1"/>
            <p:nvPr/>
          </p:nvSpPr>
          <p:spPr>
            <a:xfrm>
              <a:off x="935439" y="5857830"/>
              <a:ext cx="6145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T01</a:t>
              </a:r>
              <a:endParaRPr lang="en-US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3518720-675B-AE3B-75CD-7D6886C43CB6}"/>
                </a:ext>
              </a:extLst>
            </p:cNvPr>
            <p:cNvSpPr txBox="1"/>
            <p:nvPr/>
          </p:nvSpPr>
          <p:spPr>
            <a:xfrm>
              <a:off x="1540512" y="5857842"/>
              <a:ext cx="6583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T02</a:t>
              </a:r>
              <a:endParaRPr lang="en-US" b="1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66004B9-4B44-AC86-B9DD-73CDAEC0EBEB}"/>
                </a:ext>
              </a:extLst>
            </p:cNvPr>
            <p:cNvSpPr txBox="1"/>
            <p:nvPr/>
          </p:nvSpPr>
          <p:spPr>
            <a:xfrm>
              <a:off x="2147781" y="5857842"/>
              <a:ext cx="658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T03</a:t>
              </a:r>
              <a:endParaRPr lang="en-US" b="1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DC9CAFD-44D0-59B1-BF0C-D33A5E031B69}"/>
                </a:ext>
              </a:extLst>
            </p:cNvPr>
            <p:cNvSpPr txBox="1"/>
            <p:nvPr/>
          </p:nvSpPr>
          <p:spPr>
            <a:xfrm>
              <a:off x="2780031" y="5857842"/>
              <a:ext cx="6583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T04</a:t>
              </a:r>
              <a:endParaRPr lang="en-US" b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0BBAE46-F42C-42BA-1FA8-636BD22A10F4}"/>
                </a:ext>
              </a:extLst>
            </p:cNvPr>
            <p:cNvSpPr txBox="1"/>
            <p:nvPr/>
          </p:nvSpPr>
          <p:spPr>
            <a:xfrm>
              <a:off x="3307229" y="5857842"/>
              <a:ext cx="8924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b="1" dirty="0"/>
                <a:t>T05</a:t>
              </a:r>
              <a:endParaRPr lang="en-US" b="1" dirty="0"/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200DF128-0B3E-36C6-88A7-2D31B43F2789}"/>
              </a:ext>
            </a:extLst>
          </p:cNvPr>
          <p:cNvSpPr txBox="1"/>
          <p:nvPr/>
        </p:nvSpPr>
        <p:spPr>
          <a:xfrm>
            <a:off x="5941013" y="294968"/>
            <a:ext cx="4767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rgbClr val="00206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CƠ CẤU CHI PHÍ </a:t>
            </a:r>
            <a:r>
              <a:rPr lang="vi-VN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(T5/2024)</a:t>
            </a:r>
            <a:endParaRPr lang="en-US" sz="2400" b="1" dirty="0">
              <a:solidFill>
                <a:schemeClr val="tx2">
                  <a:lumMod val="75000"/>
                  <a:lumOff val="2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45D4780-B3EB-D89A-9FEC-067920EFB620}"/>
              </a:ext>
            </a:extLst>
          </p:cNvPr>
          <p:cNvCxnSpPr>
            <a:cxnSpLocks/>
          </p:cNvCxnSpPr>
          <p:nvPr/>
        </p:nvCxnSpPr>
        <p:spPr>
          <a:xfrm>
            <a:off x="5317958" y="204537"/>
            <a:ext cx="0" cy="52578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1E21109-8F54-6062-884B-15CE2F1627DD}"/>
              </a:ext>
            </a:extLst>
          </p:cNvPr>
          <p:cNvSpPr/>
          <p:nvPr/>
        </p:nvSpPr>
        <p:spPr>
          <a:xfrm>
            <a:off x="0" y="5873582"/>
            <a:ext cx="12192000" cy="1024751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1" name="Chart 60">
            <a:extLst>
              <a:ext uri="{FF2B5EF4-FFF2-40B4-BE49-F238E27FC236}">
                <a16:creationId xmlns:a16="http://schemas.microsoft.com/office/drawing/2014/main" id="{7C41C89B-4AB5-0FDC-2747-7373E0C852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9495290"/>
              </p:ext>
            </p:extLst>
          </p:nvPr>
        </p:nvGraphicFramePr>
        <p:xfrm>
          <a:off x="5641526" y="963002"/>
          <a:ext cx="6028903" cy="4499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189BD36F-EB92-0E80-F652-EDDB53D74ED5}"/>
              </a:ext>
            </a:extLst>
          </p:cNvPr>
          <p:cNvSpPr txBox="1"/>
          <p:nvPr/>
        </p:nvSpPr>
        <p:spPr>
          <a:xfrm>
            <a:off x="164431" y="5952386"/>
            <a:ext cx="118631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Tăng trưởng doanh thu mạnh – Tối ưu chi phí – Lợi nhuận bứt phá</a:t>
            </a:r>
            <a:endParaRPr lang="en-US" sz="28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41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115</Words>
  <Application>Microsoft Office PowerPoint</Application>
  <PresentationFormat>Widescreen</PresentationFormat>
  <Paragraphs>40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Cascadia Code</vt:lpstr>
      <vt:lpstr>Cascadia Code SemiBold</vt:lpstr>
      <vt:lpstr>Cooper Black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chiqn2k8elsa@gmail.com</dc:creator>
  <cp:lastModifiedBy>chiqn2k8elsa@gmail.com</cp:lastModifiedBy>
  <cp:revision>2</cp:revision>
  <dcterms:created xsi:type="dcterms:W3CDTF">2026-10-26T05:12:04Z</dcterms:created>
  <dcterms:modified xsi:type="dcterms:W3CDTF">2026-10-26T14:02:40Z</dcterms:modified>
</cp:coreProperties>
</file>